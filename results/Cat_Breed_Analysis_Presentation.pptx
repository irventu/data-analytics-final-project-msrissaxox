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44466E"/>
                </a:solidFill>
              </a:defRPr>
            </a:pPr>
            <a:r>
              <a:t>Statistical Analysis of Cat Breeds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Health &amp; Physiology • Personality Characteristics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Top 10 Most Popular Breeds</a:t>
            </a:r>
          </a:p>
          <a:p>
            <a:pPr>
              <a:defRPr sz="1800">
                <a:solidFill>
                  <a:srgbClr val="595959"/>
                </a:solidFill>
              </a:defRPr>
            </a:pP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Data Analytics Final Project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November 10,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44466E"/>
                </a:solidFill>
              </a:defRPr>
            </a:pPr>
            <a:r>
              <a:t>🎯 Research Question:</a:t>
            </a:r>
          </a:p>
          <a:p>
            <a:pPr lvl="1">
              <a:defRPr sz="1600"/>
            </a:pPr>
            <a:r>
              <a:t>How do the top 10 most popular cat breeds differ statistically in health, physiology, and personality characteristics?</a:t>
            </a:r>
          </a:p>
          <a:p>
            <a:br/>
            <a:pPr>
              <a:defRPr sz="2000" b="1">
                <a:solidFill>
                  <a:srgbClr val="44466E"/>
                </a:solidFill>
              </a:defRPr>
            </a:pPr>
            <a:r>
              <a:t>📊 Analysis Categories:</a:t>
            </a:r>
          </a:p>
          <a:p>
            <a:pPr lvl="1">
              <a:defRPr sz="1600"/>
            </a:pPr>
            <a:r>
              <a:t>Health &amp; Physiology: Life expectancy, weight, hereditary conditions</a:t>
            </a:r>
          </a:p>
          <a:p>
            <a:pPr lvl="1">
              <a:defRPr sz="1600"/>
            </a:pPr>
            <a:r>
              <a:t>Personality (Quantified): Vocalization, social needs, affection levels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4466E"/>
                </a:solidFill>
              </a:defRPr>
            </a:pPr>
            <a:r>
              <a:t>📋 Dataset Characteristics:</a:t>
            </a:r>
          </a:p>
          <a:p>
            <a:pPr lvl="1">
              <a:defRPr sz="1400"/>
            </a:pPr>
            <a:r>
              <a:t>• Sample size: 550 cats across 10 breeds</a:t>
            </a:r>
          </a:p>
          <a:p>
            <a:pPr lvl="1">
              <a:defRPr sz="1400"/>
            </a:pPr>
            <a:r>
              <a:t>• Balanced design: 55 cats per breed</a:t>
            </a:r>
          </a:p>
          <a:p>
            <a:pPr lvl="1">
              <a:defRPr sz="1400"/>
            </a:pPr>
            <a:r>
              <a:t>• No missing values, validated data types</a:t>
            </a:r>
          </a:p>
          <a:p>
            <a:pPr lvl="1">
              <a:defRPr sz="1400"/>
            </a:pPr>
            <a:r>
              <a:t>• SQLite database for persistence and querying</a:t>
            </a:r>
          </a:p>
          <a:p>
            <a:br/>
            <a:pPr>
              <a:defRPr sz="1800" b="1">
                <a:solidFill>
                  <a:srgbClr val="44466E"/>
                </a:solidFill>
              </a:defRPr>
            </a:pPr>
            <a:r>
              <a:t>🔬 Statistical Methods:</a:t>
            </a:r>
          </a:p>
          <a:p>
            <a:pPr lvl="1">
              <a:defRPr sz="1400"/>
            </a:pPr>
            <a:r>
              <a:t>• ANOVA (Analysis of Variance) with effect sizes (η²)</a:t>
            </a:r>
          </a:p>
          <a:p>
            <a:pPr lvl="1">
              <a:defRPr sz="1400"/>
            </a:pPr>
            <a:r>
              <a:t>• Independent t-tests with Cohen's d</a:t>
            </a:r>
          </a:p>
          <a:p>
            <a:pPr lvl="1">
              <a:defRPr sz="1400"/>
            </a:pPr>
            <a:r>
              <a:t>• Pearson correlation analysis</a:t>
            </a:r>
          </a:p>
          <a:p>
            <a:pPr lvl="1">
              <a:defRPr sz="1400"/>
            </a:pPr>
            <a:r>
              <a:t>• Chi-square tests for health conditions</a:t>
            </a:r>
          </a:p>
          <a:p>
            <a:pPr lvl="1">
              <a:defRPr sz="1400"/>
            </a:pPr>
            <a:r>
              <a:t>• Descriptive statistics (mean, std, ranges)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Cat Breeds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4466E"/>
                </a:solidFill>
              </a:defRPr>
            </a:pPr>
            <a:r>
              <a:t>🐱 Breeds Selected (Based on CFA Registration Data):</a:t>
            </a:r>
          </a:p>
          <a:p>
            <a:pPr lvl="1">
              <a:defRPr sz="1600"/>
            </a:pPr>
            <a:r>
              <a:t>1. Persian</a:t>
            </a:r>
          </a:p>
          <a:p>
            <a:pPr lvl="1">
              <a:defRPr sz="1600"/>
            </a:pPr>
            <a:r>
              <a:t>2. Maine Coon</a:t>
            </a:r>
          </a:p>
          <a:p>
            <a:pPr lvl="1">
              <a:defRPr sz="1600"/>
            </a:pPr>
            <a:r>
              <a:t>3. British Shorthair</a:t>
            </a:r>
          </a:p>
          <a:p>
            <a:pPr lvl="1">
              <a:defRPr sz="1600"/>
            </a:pPr>
            <a:r>
              <a:t>4. Ragdoll</a:t>
            </a:r>
          </a:p>
          <a:p>
            <a:pPr lvl="1">
              <a:defRPr sz="1600"/>
            </a:pPr>
            <a:r>
              <a:t>5. Bengal</a:t>
            </a:r>
          </a:p>
          <a:p>
            <a:br/>
            <a:pPr>
              <a:defRPr sz="1600" b="1">
                <a:solidFill>
                  <a:srgbClr val="44466E"/>
                </a:solidFill>
              </a:defRPr>
            </a:pPr>
            <a:r>
              <a:t>📌 Selection Criteria:</a:t>
            </a:r>
          </a:p>
          <a:p>
            <a:pPr lvl="1">
              <a:defRPr sz="1400"/>
            </a:pPr>
            <a:r>
              <a:t>• Popularity based on registration data</a:t>
            </a:r>
          </a:p>
          <a:p>
            <a:pPr lvl="1">
              <a:defRPr sz="1400"/>
            </a:pPr>
            <a:r>
              <a:t>• Availability of health and temperament data</a:t>
            </a:r>
          </a:p>
          <a:p>
            <a:pPr lvl="1">
              <a:defRPr sz="1400"/>
            </a:pPr>
            <a:r>
              <a:t>• Distinct breed characteristics</a:t>
            </a:r>
          </a:p>
          <a:p>
            <a:pPr lvl="1">
              <a:defRPr sz="1400"/>
            </a:pPr>
            <a:r>
              <a:t>• Sufficient sample size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Statistical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4466E"/>
                </a:solidFill>
              </a:defRPr>
            </a:pPr>
            <a:r>
              <a:t>🎯 Major Discoveries:</a:t>
            </a:r>
          </a:p>
          <a:p>
            <a:pPr lvl="1">
              <a:defRPr sz="1400"/>
            </a:pPr>
            <a:r>
              <a:t>✅ ALL breed characteristics show highly significant differences (p &lt; 0.001)</a:t>
            </a:r>
          </a:p>
          <a:p>
            <a:pPr lvl="1">
              <a:defRPr sz="1400"/>
            </a:pPr>
            <a:r>
              <a:t>✅ Large effect sizes for personality traits (η² = 0.40-0.64)</a:t>
            </a:r>
          </a:p>
          <a:p>
            <a:pPr lvl="1">
              <a:defRPr sz="1400"/>
            </a:pPr>
            <a:r>
              <a:t>✅ Massive gender difference in weight (Cohen's d = 1.61)</a:t>
            </a:r>
          </a:p>
          <a:p>
            <a:pPr lvl="1">
              <a:defRPr sz="1400"/>
            </a:pPr>
            <a:r>
              <a:t>✅ Breed-specific health risks clearly identified</a:t>
            </a:r>
          </a:p>
          <a:p>
            <a:pPr lvl="1">
              <a:defRPr sz="1400"/>
            </a:pPr>
            <a:r>
              <a:t>✅ Strong personality correlations discovered (r = 0.46)</a:t>
            </a:r>
          </a:p>
          <a:p>
            <a:br/>
            <a:pPr>
              <a:defRPr sz="1600" b="1">
                <a:solidFill>
                  <a:srgbClr val="44466E"/>
                </a:solidFill>
              </a:defRPr>
            </a:pPr>
            <a:r>
              <a:t>📊 Statistical Significance:</a:t>
            </a:r>
          </a:p>
          <a:p>
            <a:pPr lvl="1">
              <a:defRPr sz="1400"/>
            </a:pPr>
            <a:r>
              <a:t>All analyses exceeded conventional significance thresholds with large effect sizes, indicating robust, meaningful differences between breeds.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&amp; Physiology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66E"/>
                </a:solidFill>
              </a:defRPr>
            </a:pPr>
            <a:r>
              <a:t>🏥 Life Expectancy (F = 18.79, p &lt; 0.001, η² = 0.24):</a:t>
            </a:r>
          </a:p>
          <a:p>
            <a:pPr lvl="1">
              <a:defRPr sz="1400"/>
            </a:pPr>
            <a:r>
              <a:t>• Longest-lived: Siamese (15.8 years)</a:t>
            </a:r>
          </a:p>
          <a:p>
            <a:pPr lvl="1">
              <a:defRPr sz="1400"/>
            </a:pPr>
            <a:r>
              <a:t>• Shortest-lived: Persian (12.6 years)</a:t>
            </a:r>
          </a:p>
          <a:p>
            <a:pPr lvl="1">
              <a:defRPr sz="1400"/>
            </a:pPr>
            <a:r>
              <a:t>• Range: 12.6 - 15.8 years</a:t>
            </a:r>
          </a:p>
          <a:p>
            <a:br/>
            <a:pPr>
              <a:defRPr sz="1600" b="1">
                <a:solidFill>
                  <a:srgbClr val="44466E"/>
                </a:solidFill>
              </a:defRPr>
            </a:pPr>
            <a:r>
              <a:t>⚖️ Weight Analysis (Gender Effect d = 1.61):</a:t>
            </a:r>
          </a:p>
          <a:p>
            <a:pPr lvl="1">
              <a:defRPr sz="1400"/>
            </a:pPr>
            <a:r>
              <a:t>• Males: 12.2 lbs average</a:t>
            </a:r>
          </a:p>
          <a:p>
            <a:pPr lvl="1">
              <a:defRPr sz="1400"/>
            </a:pPr>
            <a:r>
              <a:t>• Females: 8.8 lbs average</a:t>
            </a:r>
          </a:p>
          <a:p>
            <a:pPr lvl="1">
              <a:defRPr sz="1400"/>
            </a:pPr>
            <a:r>
              <a:t>• Gender difference: 3.4 lbs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Hereditary Health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4466E"/>
                </a:solidFill>
              </a:defRPr>
            </a:pPr>
            <a:r>
              <a:t>🧬 Three Major Hereditary Conditions Analyzed:</a:t>
            </a:r>
          </a:p>
          <a:p>
            <a:br/>
            <a:pPr lvl="1">
              <a:defRPr sz="1400" b="1"/>
            </a:pPr>
            <a:r>
              <a:t>• Polycystic Kidney Disease (PKD): 6.5% overall</a:t>
            </a:r>
          </a:p>
          <a:p>
            <a:pPr lvl="2">
              <a:defRPr sz="1200"/>
            </a:pPr>
            <a:r>
              <a:t>  Highest risk: Persian (43.6%)</a:t>
            </a:r>
          </a:p>
          <a:p>
            <a:br/>
            <a:pPr lvl="1">
              <a:defRPr sz="1400" b="1"/>
            </a:pPr>
            <a:r>
              <a:t>• Hypertrophic Cardiomyopathy (HCM): 5.5% overall</a:t>
            </a:r>
          </a:p>
          <a:p>
            <a:pPr lvl="2">
              <a:defRPr sz="1200"/>
            </a:pPr>
            <a:r>
              <a:t>  Highest risk: Maine Coon (10.9%)</a:t>
            </a:r>
          </a:p>
          <a:p>
            <a:br/>
            <a:pPr lvl="1">
              <a:defRPr sz="1400" b="1"/>
            </a:pPr>
            <a:r>
              <a:t>• Hip Dysplasia: 4.0% overall</a:t>
            </a:r>
          </a:p>
          <a:p>
            <a:pPr lvl="2">
              <a:defRPr sz="1200"/>
            </a:pPr>
            <a:r>
              <a:t>  Highest risk: Maine Coon (16.4%)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Personality Characteristics (Quantified)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4466E"/>
                </a:solidFill>
              </a:defRPr>
            </a:pPr>
            <a:r>
              <a:t>🎭 Three Personality Dimensions:</a:t>
            </a:r>
          </a:p>
          <a:p>
            <a:br/>
            <a:pPr>
              <a:defRPr sz="1600" b="1">
                <a:solidFill>
                  <a:srgbClr val="44466E"/>
                </a:solidFill>
              </a:defRPr>
            </a:pPr>
            <a:r>
              <a:t>🔊 Vocalization (F = 57.64, η² = 0.49):</a:t>
            </a:r>
          </a:p>
          <a:p>
            <a:pPr lvl="1">
              <a:defRPr sz="1400"/>
            </a:pPr>
            <a:r>
              <a:t>• Most vocal: Siamese (2.75/3.0)</a:t>
            </a:r>
          </a:p>
          <a:p>
            <a:pPr lvl="1">
              <a:defRPr sz="1400"/>
            </a:pPr>
            <a:r>
              <a:t>• Least vocal: British Shorthair (1.22/3.0)</a:t>
            </a:r>
          </a:p>
          <a:p>
            <a:br/>
            <a:pPr>
              <a:defRPr sz="1600" b="1">
                <a:solidFill>
                  <a:srgbClr val="44466E"/>
                </a:solidFill>
              </a:defRPr>
            </a:pPr>
            <a:r>
              <a:t>👥 Social Need (F = 40.55, η² = 0.40):</a:t>
            </a:r>
          </a:p>
          <a:p>
            <a:pPr lvl="1">
              <a:defRPr sz="1400"/>
            </a:pPr>
            <a:r>
              <a:t>• Most social: Abyssinian (2.73/3.0)</a:t>
            </a:r>
          </a:p>
          <a:p>
            <a:pPr lvl="1">
              <a:defRPr sz="1400"/>
            </a:pPr>
            <a:r>
              <a:t>• Most independent: British Shorthair (1.25/3.0)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Affection Levels &amp; Personality Correlations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66E"/>
                </a:solidFill>
              </a:defRPr>
            </a:pPr>
            <a:r>
              <a:t>💖 Affection Level (F = 105.44, η² = 0.64 - Largest Effect!):</a:t>
            </a:r>
          </a:p>
          <a:p>
            <a:pPr lvl="1">
              <a:defRPr sz="1400"/>
            </a:pPr>
            <a:r>
              <a:t>• Most affectionate: Abyssinian (3.67/4.0)</a:t>
            </a:r>
          </a:p>
          <a:p>
            <a:pPr lvl="1">
              <a:defRPr sz="1400"/>
            </a:pPr>
            <a:r>
              <a:t>• Most aloof: Russian Blue (1.36/4.0)</a:t>
            </a:r>
          </a:p>
          <a:p>
            <a:pPr lvl="1">
              <a:defRPr sz="1400"/>
            </a:pPr>
            <a:r>
              <a:t>• Scale: 1=Aloof, 2=Moderate, 3=Lap-sitter, 4=Dog-like devotion</a:t>
            </a:r>
          </a:p>
          <a:p>
            <a:br/>
            <a:pPr>
              <a:defRPr sz="1600" b="1">
                <a:solidFill>
                  <a:srgbClr val="44466E"/>
                </a:solidFill>
              </a:defRPr>
            </a:pPr>
            <a:r>
              <a:t>🔗 Key Discovery - Personality Correlation:</a:t>
            </a:r>
          </a:p>
          <a:p>
            <a:pPr lvl="1">
              <a:defRPr sz="1400"/>
            </a:pPr>
            <a:r>
              <a:t>• Social Need ↔ Affection Level: r = 0.461 (p &lt; 0.001)</a:t>
            </a:r>
          </a:p>
          <a:p>
            <a:pPr lvl="1">
              <a:defRPr sz="1400"/>
            </a:pPr>
            <a:r>
              <a:t>• Cats with high social needs tend to be more affectionate</a:t>
            </a:r>
          </a:p>
          <a:p>
            <a:pPr lvl="1">
              <a:defRPr sz="1400"/>
            </a:pPr>
            <a:r>
              <a:t>• This represents a MEDIUM-to-STRONG positive relationship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Breed Champions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4466E"/>
                </a:solidFill>
              </a:defRPr>
            </a:pPr>
            <a:r>
              <a:t>🏆 Top Performers in Each Dimension:</a:t>
            </a:r>
          </a:p>
          <a:p>
            <a:pPr lvl="1">
              <a:defRPr sz="1400"/>
            </a:pPr>
            <a:r>
              <a:t>🏥 Longevity Champion: Siamese (15.8 years)</a:t>
            </a:r>
          </a:p>
          <a:p>
            <a:pPr lvl="1">
              <a:defRPr sz="1400"/>
            </a:pPr>
            <a:r>
              <a:t>⚖️ Size Champions: Ragdoll (heaviest) • Russian Blue (lightest)</a:t>
            </a:r>
          </a:p>
          <a:p>
            <a:pPr lvl="1">
              <a:defRPr sz="1400"/>
            </a:pPr>
            <a:r>
              <a:t>💪 Health Champion: Ragdoll (health score: 9.9/10)</a:t>
            </a:r>
          </a:p>
          <a:p>
            <a:pPr lvl="1">
              <a:defRPr sz="1400"/>
            </a:pPr>
            <a:r>
              <a:t>🔊 Most Vocal: Siamese (2.75/3.0)</a:t>
            </a:r>
          </a:p>
          <a:p>
            <a:pPr lvl="1">
              <a:defRPr sz="1400"/>
            </a:pPr>
            <a:r>
              <a:t>👥 Most Social: Abyssinian (2.73/3.0)</a:t>
            </a:r>
          </a:p>
          <a:p>
            <a:pPr lvl="1">
              <a:defRPr sz="1400"/>
            </a:pPr>
            <a:r>
              <a:t>💖 Most Affectionate: Abyssinian (3.67/4.0)</a:t>
            </a:r>
          </a:p>
          <a:p>
            <a:br/>
            <a:pPr>
              <a:defRPr sz="1200" i="1">
                <a:solidFill>
                  <a:srgbClr val="595959"/>
                </a:solidFill>
              </a:defRPr>
            </a:pPr>
            <a:r>
              <a:t>📌 Note: All differences statistically significant (p &lt; 0.001)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4466E"/>
                </a:solidFill>
              </a:defRPr>
            </a:pPr>
            <a:r>
              <a:t>🎯 What This Means:</a:t>
            </a:r>
          </a:p>
          <a:p>
            <a:pPr>
              <a:defRPr sz="1600" b="1">
                <a:solidFill>
                  <a:srgbClr val="44466E"/>
                </a:solidFill>
              </a:defRPr>
            </a:pPr>
            <a:r>
              <a:t>🏠 For Potential Cat Owners:</a:t>
            </a:r>
          </a:p>
          <a:p>
            <a:pPr lvl="1">
              <a:defRPr sz="1400"/>
            </a:pPr>
            <a:r>
              <a:t>  • Choose breeds matching your lifestyle preferences</a:t>
            </a:r>
          </a:p>
          <a:p>
            <a:pPr lvl="1">
              <a:defRPr sz="1400"/>
            </a:pPr>
            <a:r>
              <a:t>  • Consider health risks and life expectancy</a:t>
            </a:r>
          </a:p>
          <a:p>
            <a:pPr lvl="1">
              <a:defRPr sz="1400"/>
            </a:pPr>
            <a:r>
              <a:t>  • Understand personality trait differences</a:t>
            </a:r>
          </a:p>
          <a:p>
            <a:pPr>
              <a:defRPr sz="1600" b="1">
                <a:solidFill>
                  <a:srgbClr val="44466E"/>
                </a:solidFill>
              </a:defRPr>
            </a:pPr>
            <a:r>
              <a:t>🏥 For Veterinarians:</a:t>
            </a:r>
          </a:p>
          <a:p>
            <a:pPr lvl="1">
              <a:defRPr sz="1400"/>
            </a:pPr>
            <a:r>
              <a:t>  • Focus screening on breed-specific health risks</a:t>
            </a:r>
          </a:p>
          <a:p>
            <a:pPr lvl="1">
              <a:defRPr sz="1400"/>
            </a:pPr>
            <a:r>
              <a:t>  • Tailor preventive care recommendations</a:t>
            </a:r>
          </a:p>
          <a:p>
            <a:pPr lvl="1">
              <a:defRPr sz="1400"/>
            </a:pPr>
            <a:r>
              <a:t>  • Educate owners about breed characteristics</a:t>
            </a:r>
          </a:p>
          <a:p>
            <a:pPr>
              <a:defRPr sz="1600" b="1">
                <a:solidFill>
                  <a:srgbClr val="44466E"/>
                </a:solidFill>
              </a:defRPr>
            </a:pPr>
            <a:r>
              <a:t>🧬 For Breeders:</a:t>
            </a:r>
          </a:p>
          <a:p>
            <a:pPr lvl="1">
              <a:defRPr sz="1400"/>
            </a:pPr>
            <a:r>
              <a:t>  • Genetic testing priorities vary by breed</a:t>
            </a:r>
          </a:p>
          <a:p>
            <a:pPr lvl="1">
              <a:defRPr sz="1400"/>
            </a:pPr>
            <a:r>
              <a:t>  • Health screening programs should be breed-specific</a:t>
            </a:r>
          </a:p>
          <a:p>
            <a:pPr lvl="1">
              <a:defRPr sz="1400"/>
            </a:pPr>
            <a:r>
              <a:t>  • Understand breed temperament for proper socialization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Future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4466E"/>
                </a:solidFill>
              </a:defRPr>
            </a:pPr>
            <a:r>
              <a:t>✅ Key Conclusions:</a:t>
            </a:r>
          </a:p>
          <a:p>
            <a:pPr lvl="1">
              <a:defRPr sz="1400"/>
            </a:pPr>
            <a:r>
              <a:t>• Cat breeds differ significantly across ALL measured characteristics</a:t>
            </a:r>
          </a:p>
          <a:p>
            <a:pPr lvl="1">
              <a:defRPr sz="1400"/>
            </a:pPr>
            <a:r>
              <a:t>• Effect sizes are large, indicating meaningful practical differences</a:t>
            </a:r>
          </a:p>
          <a:p>
            <a:pPr lvl="1">
              <a:defRPr sz="1400"/>
            </a:pPr>
            <a:r>
              <a:t>• Breed selection has clear implications for owners and veterinarians</a:t>
            </a:r>
          </a:p>
          <a:p>
            <a:pPr lvl="1">
              <a:defRPr sz="1400"/>
            </a:pPr>
            <a:r>
              <a:t>• Personality traits show strongest breed differences (η² up to 0.64)</a:t>
            </a:r>
          </a:p>
          <a:p>
            <a:pPr lvl="1">
              <a:defRPr sz="1400"/>
            </a:pPr>
            <a:r>
              <a:t>• Health risks are breed-specific and should guide care decisions</a:t>
            </a:r>
          </a:p>
          <a:p>
            <a:br/>
            <a:pPr>
              <a:defRPr sz="1800" b="1">
                <a:solidFill>
                  <a:srgbClr val="44466E"/>
                </a:solidFill>
              </a:defRPr>
            </a:pPr>
            <a:r>
              <a:t>🔮 Future Research Directions:</a:t>
            </a:r>
          </a:p>
          <a:p>
            <a:pPr lvl="1">
              <a:defRPr sz="1400"/>
            </a:pPr>
            <a:r>
              <a:t>• Genetic basis of personality trait differences</a:t>
            </a:r>
          </a:p>
          <a:p>
            <a:pPr lvl="1">
              <a:defRPr sz="1400"/>
            </a:pPr>
            <a:r>
              <a:t>• Environmental vs. genetic factors in health outcomes</a:t>
            </a:r>
          </a:p>
          <a:p>
            <a:pPr lvl="1">
              <a:defRPr sz="1400"/>
            </a:pPr>
            <a:r>
              <a:t>• Cross-breed analysis and hybrid characteristics</a:t>
            </a:r>
          </a:p>
          <a:p>
            <a:pPr lvl="1">
              <a:defRPr sz="1400"/>
            </a:pPr>
            <a:r>
              <a:t>• Longitudinal studies tracking changes over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44466E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Questions &amp; Discussion</a:t>
            </a:r>
          </a:p>
          <a:p>
            <a:pPr>
              <a:defRPr sz="1600">
                <a:solidFill>
                  <a:srgbClr val="595959"/>
                </a:solidFill>
              </a:defRPr>
            </a:pPr>
          </a:p>
          <a:p>
            <a:pPr>
              <a:defRPr sz="1600">
                <a:solidFill>
                  <a:srgbClr val="595959"/>
                </a:solidFill>
              </a:defRPr>
            </a:pPr>
            <a:r>
              <a:t>📊 Dataset: 550 cats across 10 breeds</a:t>
            </a:r>
          </a:p>
          <a:p>
            <a:pPr>
              <a:defRPr sz="1600">
                <a:solidFill>
                  <a:srgbClr val="595959"/>
                </a:solidFill>
              </a:defRPr>
            </a:pPr>
            <a:r>
              <a:t>📈 10 statistical analyses performed</a:t>
            </a:r>
          </a:p>
          <a:p>
            <a:pPr>
              <a:defRPr sz="1600">
                <a:solidFill>
                  <a:srgbClr val="595959"/>
                </a:solidFill>
              </a:defRPr>
            </a:pPr>
            <a:r>
              <a:t>🎯 All findings significant at p &lt; 0.001 level</a:t>
            </a:r>
          </a:p>
          <a:p>
            <a:pPr>
              <a:defRPr sz="1600">
                <a:solidFill>
                  <a:srgbClr val="595959"/>
                </a:solidFill>
              </a:defRPr>
            </a:pPr>
          </a:p>
          <a:p>
            <a:pPr>
              <a:defRPr sz="1600">
                <a:solidFill>
                  <a:srgbClr val="595959"/>
                </a:solidFill>
              </a:defRPr>
            </a:pPr>
            <a:r>
              <a:t>Data Analytics Final Project</a:t>
            </a:r>
          </a:p>
          <a:p>
            <a:pPr>
              <a:defRPr sz="1600">
                <a:solidFill>
                  <a:srgbClr val="595959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